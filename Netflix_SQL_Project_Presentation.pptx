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31a37ee-a628-2152-5b87-52067b1b6b73}">
          <p14:sldIdLst>
            <p14:sldId id="256"/>
            <p14:sldId id="257"/>
          </p14:sldIdLst>
        </p14:section>
        <p14:section name="Data &amp; setup" id="{053ce849-0ce4-dc94-bb9a-26f1774b9dc2}">
          <p14:sldIdLst>
            <p14:sldId id="258"/>
            <p14:sldId id="259"/>
            <p14:sldId id="260"/>
            <p14:sldId id="261"/>
            <p14:sldId id="262"/>
          </p14:sldIdLst>
        </p14:section>
        <p14:section name="Analysis" id="{f2cab7f2-2add-d0f6-8509-93e815336584}">
          <p14:sldIdLst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Wrap-up" id="{87989d56-c241-74fe-35cf-d9325efbc0c8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IMDb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Movies</c:v>
                  </c:pt>
                  <c:pt idx="1">
                    <c:v>Shows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6.25</c:v>
                </c:pt>
                <c:pt idx="1">
                  <c:v>6.98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TMDB</c:v>
                </c:pt>
              </c:strCache>
            </c:strRef>
          </c:tx>
          <c:spPr>
            <a:solidFill>
              <a:srgbClr val="4A4A4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Movies</c:v>
                  </c:pt>
                  <c:pt idx="1">
                    <c:v>Shows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6.46</c:v>
                </c:pt>
                <c:pt idx="1">
                  <c:v>7.48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A4A4A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Titles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1940s</c:v>
                  </c:pt>
                  <c:pt idx="1">
                    <c:v>1950s</c:v>
                  </c:pt>
                  <c:pt idx="2">
                    <c:v>1960s</c:v>
                  </c:pt>
                  <c:pt idx="3">
                    <c:v>1970s</c:v>
                  </c:pt>
                  <c:pt idx="4">
                    <c:v>1980s</c:v>
                  </c:pt>
                  <c:pt idx="5">
                    <c:v>1990s</c:v>
                  </c:pt>
                  <c:pt idx="6">
                    <c:v>2000s</c:v>
                  </c:pt>
                  <c:pt idx="7">
                    <c:v>2010s</c:v>
                  </c:pt>
                  <c:pt idx="8">
                    <c:v>2020s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5</c:v>
                </c:pt>
                <c:pt idx="2">
                  <c:v>8</c:v>
                </c:pt>
                <c:pt idx="3">
                  <c:v>18</c:v>
                </c:pt>
                <c:pt idx="4">
                  <c:v>52</c:v>
                </c:pt>
                <c:pt idx="5">
                  <c:v>121</c:v>
                </c:pt>
                <c:pt idx="6">
                  <c:v>369</c:v>
                </c:pt>
                <c:pt idx="7">
                  <c:v>3304</c:v>
                </c:pt>
                <c:pt idx="8">
                  <c:v>1972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Movies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</c:v>
                  </c:pt>
                  <c:pt idx="1">
                    <c:v>PG-13</c:v>
                  </c:pt>
                  <c:pt idx="2">
                    <c:v>PG</c:v>
                  </c:pt>
                  <c:pt idx="3">
                    <c:v>G</c:v>
                  </c:pt>
                  <c:pt idx="4">
                    <c:v>NC-17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556</c:v>
                </c:pt>
                <c:pt idx="1">
                  <c:v>451</c:v>
                </c:pt>
                <c:pt idx="2">
                  <c:v>233</c:v>
                </c:pt>
                <c:pt idx="3">
                  <c:v>124</c:v>
                </c:pt>
                <c:pt idx="4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8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Credits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Kareena Kapoor Khan</c:v>
                  </c:pt>
                  <c:pt idx="1">
                    <c:v>Boman Irani</c:v>
                  </c:pt>
                  <c:pt idx="2">
                    <c:v>Shah Rukh Khan</c:v>
                  </c:pt>
                  <c:pt idx="3">
                    <c:v>Takahiro Sakurai</c:v>
                  </c:pt>
                  <c:pt idx="4">
                    <c:v>Amitabh Bachchan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25</c:v>
                </c:pt>
                <c:pt idx="2">
                  <c:v>23</c:v>
                </c:pt>
                <c:pt idx="3">
                  <c:v>21</c:v>
                </c:pt>
                <c:pt idx="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Credits</c:v>
                </c:pt>
              </c:strCache>
            </c:strRef>
          </c:tx>
          <c:spPr>
            <a:solidFill>
              <a:srgbClr val="4A4A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41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Raúl Campos</c:v>
                  </c:pt>
                  <c:pt idx="1">
                    <c:v>Jan Suter</c:v>
                  </c:pt>
                  <c:pt idx="2">
                    <c:v>Ryan Polito</c:v>
                  </c:pt>
                  <c:pt idx="3">
                    <c:v>Jay Karas</c:v>
                  </c:pt>
                  <c:pt idx="4">
                    <c:v>Marcus Raboy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19</c:v>
                </c:pt>
                <c:pt idx="2">
                  <c:v>17</c:v>
                </c:pt>
                <c:pt idx="3">
                  <c:v>15</c:v>
                </c:pt>
                <c:pt idx="4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4141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4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project analyses Netflix's catalogue using two CSV files (titles and credits) and MySQL. I'll cover the data, how I loaded and cleaned it, and then walk through what the queries do and what they found.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5,850 titles and 77,801 credit rows. I wrote 22 queries grouped into four themes: ratings, content trends over time, genres and age certifications, and the cast and crew.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titles holds the details of each movie or show; credits lists who appeared in or directed it. The id column is the key that links the two tables, which is what every JOIN later in the project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has five steps: set up the schema, load the CSVs, clean the text, convert the types, then analyse. Cleaning matters because everything is loaded as text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LOAD DATA INFILE is the fast bulk import. ENCLOSED BY handles quoted descriptions containing commas. The @variables with NULLIF convert empty strings to NULL during the import so numeric columns can be converted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everything was loaded as text, I standardised blanks, trimmed stray characters, removed the brackets from genres and countries, converted types, and filled missing vote counts with the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SQL building blocks used across the 22 queries. The next slides show them in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queries share this pattern. Filter by type, sort by IMDb score, and limit to ten. The cards show the single best and worst result for movies and shows.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Shows score higher than movies on both IMDb and TMDB. Movies average about 98 minutes; shows about 39 minutes per episode. The runtime query uses UNION ALL to put both averages in one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Dividing the year by ten, flooring, and multiplying by ten buckets each title into a decade. The catalogue is overwhelmingly recent; the 2020s bar is partial because the data stops in 2022.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 BY with COUNT(*) counts titles per category; ORDER BY DESC with LIMIT keeps the most common. Genre queries use the same pattern on the genres column.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queries run on the credits table alone: filter by role, group by person name, count rows, and sort. Charts show the top five of each top-20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JOIN ... ON t.id = c.id links each credit to its title. Once joined, we can filter on columns from both tables. The same idea powers four queries: directors since 2010, popular hits, actors in highly rated titles, and characters played in more than one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headline findings from the queries.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things I would tighten next. The main idea in each is to keep names consistent between the load script and the analysis queries, and to normalise list-style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summarise: two raw files became a clean, queryable database, and 22 queries turned it into answers. Happy to take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5120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685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6"/>
                </a:solidFill>
              </a:rPr>
              <a:t>MYSQL · DATA ANALYSIS PROJECT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097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Netflix Content Analysis</a:t>
            </a:r>
            <a:endParaRPr lang="en-US" sz="4000" dirty="0"/>
          </a:p>
        </p:txBody>
      </p:sp>
      <p:sp>
        <p:nvSpPr>
          <p:cNvPr id="4" name="Subtitle"/>
          <p:cNvSpPr txBox="1"/>
          <p:nvPr/>
        </p:nvSpPr>
        <p:spPr>
          <a:xfrm>
            <a:off x="640080" y="26974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Cleaning, querying and joining 5,850 titles and 77,801 credits with SQL</a:t>
            </a:r>
            <a:endParaRPr lang="en-US" sz="1800" dirty="0"/>
          </a:p>
        </p:txBody>
      </p:sp>
      <p:sp>
        <p:nvSpPr>
          <p:cNvPr id="5" name="Play circle"/>
          <p:cNvSpPr/>
          <p:nvPr/>
        </p:nvSpPr>
        <p:spPr>
          <a:xfrm>
            <a:off x="5943600" y="1005840"/>
            <a:ext cx="2743200" cy="2743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Play icon" descr="Pla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8288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Goal: turn two raw CSV exports into clear answers about Netflix's catalogue, using only MySQL.</a:t>
            </a:r>
            <a:endParaRPr lang="en-US" sz="1800" dirty="0"/>
          </a:p>
        </p:txBody>
      </p:sp>
      <p:sp>
        <p:nvSpPr>
          <p:cNvPr id="4" name="Stat card 1"/>
          <p:cNvSpPr/>
          <p:nvPr/>
        </p:nvSpPr>
        <p:spPr>
          <a:xfrm>
            <a:off x="457200" y="196596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5,850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34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titles (3,744 movies, 2,106 shows)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3291840" y="196596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77,801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834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credits linking people to titles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6126480" y="1965960"/>
            <a:ext cx="256032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21031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0" y="2834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SQL queries answering questions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Themes explored</a:t>
            </a:r>
            <a:endParaRPr lang="en-US" sz="1200" dirty="0"/>
          </a:p>
        </p:txBody>
      </p:sp>
      <p:sp>
        <p:nvSpPr>
          <p:cNvPr id="14" name="Theme pill 1"/>
          <p:cNvSpPr txBox="1"/>
          <p:nvPr/>
        </p:nvSpPr>
        <p:spPr>
          <a:xfrm>
            <a:off x="457200" y="4160520"/>
            <a:ext cx="19202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Ratings</a:t>
            </a:r>
            <a:endParaRPr lang="en-US" sz="1400" dirty="0"/>
          </a:p>
        </p:txBody>
      </p:sp>
      <p:sp>
        <p:nvSpPr>
          <p:cNvPr id="15" name="Theme pill 2"/>
          <p:cNvSpPr txBox="1"/>
          <p:nvPr/>
        </p:nvSpPr>
        <p:spPr>
          <a:xfrm>
            <a:off x="2587752" y="4160520"/>
            <a:ext cx="19202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Content trends</a:t>
            </a:r>
            <a:endParaRPr lang="en-US" sz="1400" dirty="0"/>
          </a:p>
        </p:txBody>
      </p:sp>
      <p:sp>
        <p:nvSpPr>
          <p:cNvPr id="16" name="Theme pill 3"/>
          <p:cNvSpPr txBox="1"/>
          <p:nvPr/>
        </p:nvSpPr>
        <p:spPr>
          <a:xfrm>
            <a:off x="4718304" y="4160520"/>
            <a:ext cx="19202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Genres &amp; ages</a:t>
            </a:r>
            <a:endParaRPr lang="en-US" sz="1400" dirty="0"/>
          </a:p>
        </p:txBody>
      </p:sp>
      <p:sp>
        <p:nvSpPr>
          <p:cNvPr id="17" name="Theme pill 4"/>
          <p:cNvSpPr txBox="1"/>
          <p:nvPr/>
        </p:nvSpPr>
        <p:spPr>
          <a:xfrm>
            <a:off x="6848856" y="4160520"/>
            <a:ext cx="1920240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Cast &amp; crew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two datasets</a:t>
            </a:r>
            <a:endParaRPr lang="en-US" sz="3000" dirty="0"/>
          </a:p>
        </p:txBody>
      </p:sp>
      <p:sp>
        <p:nvSpPr>
          <p:cNvPr id="3" name="Dataset card 1"/>
          <p:cNvSpPr/>
          <p:nvPr/>
        </p:nvSpPr>
        <p:spPr>
          <a:xfrm>
            <a:off x="457200" y="1143000"/>
            <a:ext cx="384048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itles.csv icon circle"/>
          <p:cNvSpPr/>
          <p:nvPr/>
        </p:nvSpPr>
        <p:spPr>
          <a:xfrm>
            <a:off x="68580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titles.csv icon" descr="titles.csv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" y="14516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325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titles.csv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057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5,850 rows · 15 columns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4688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id, title, type, release_year, age_certification, runtime, genres, production_countries, seasons, IMDb &amp; TMDB scores, popularity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8404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One row per movie or show</a:t>
            </a:r>
            <a:endParaRPr lang="en-US" sz="1400" dirty="0"/>
          </a:p>
        </p:txBody>
      </p:sp>
      <p:sp>
        <p:nvSpPr>
          <p:cNvPr id="10" name="Dataset card 2"/>
          <p:cNvSpPr/>
          <p:nvPr/>
        </p:nvSpPr>
        <p:spPr>
          <a:xfrm>
            <a:off x="4846320" y="1143000"/>
            <a:ext cx="384048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redits.csv icon circle"/>
          <p:cNvSpPr/>
          <p:nvPr/>
        </p:nvSpPr>
        <p:spPr>
          <a:xfrm>
            <a:off x="5074920" y="132588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credits.csv icon" descr="credits.csv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0650" y="1451610"/>
            <a:ext cx="251460" cy="2514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760720" y="1325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credits.csv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5074920" y="20574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77,801 rows · 5 columns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074920" y="24688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person_id, id, name, character, role (ACTOR or DIRECTOR)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074920" y="38404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One row per person per title: 73,251 actors, 4,550 directors</a:t>
            </a:r>
            <a:endParaRPr lang="en-US" sz="1400" dirty="0"/>
          </a:p>
        </p:txBody>
      </p:sp>
      <p:sp>
        <p:nvSpPr>
          <p:cNvPr id="17" name="Join key badge"/>
          <p:cNvSpPr/>
          <p:nvPr/>
        </p:nvSpPr>
        <p:spPr>
          <a:xfrm>
            <a:off x="4343400" y="2514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3434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Project workflow</a:t>
            </a:r>
            <a:endParaRPr lang="en-US" sz="3000" dirty="0"/>
          </a:p>
        </p:txBody>
      </p:sp>
      <p:sp>
        <p:nvSpPr>
          <p:cNvPr id="3" name="Step connector"/>
          <p:cNvSpPr/>
          <p:nvPr/>
        </p:nvSpPr>
        <p:spPr>
          <a:xfrm>
            <a:off x="1234440" y="1691640"/>
            <a:ext cx="66751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</p:sp>
      <p:sp>
        <p:nvSpPr>
          <p:cNvPr id="4" name="Step 1 icon circle"/>
          <p:cNvSpPr/>
          <p:nvPr/>
        </p:nvSpPr>
        <p:spPr>
          <a:xfrm>
            <a:off x="86868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tep 1 icon" descr="Step 1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531620"/>
            <a:ext cx="320040" cy="320040"/>
          </a:xfrm>
          <a:prstGeom prst="rect">
            <a:avLst/>
          </a:prstGeom>
        </p:spPr>
      </p:pic>
      <p:sp>
        <p:nvSpPr>
          <p:cNvPr id="6" name="Step card 1"/>
          <p:cNvSpPr/>
          <p:nvPr/>
        </p:nvSpPr>
        <p:spPr>
          <a:xfrm>
            <a:off x="457200" y="2240280"/>
            <a:ext cx="1554480" cy="17373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66928" y="237744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1. Set up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78892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Create the database and the two tables</a:t>
            </a:r>
            <a:endParaRPr lang="en-US" sz="1200" dirty="0"/>
          </a:p>
        </p:txBody>
      </p:sp>
      <p:sp>
        <p:nvSpPr>
          <p:cNvPr id="9" name="Step 2 icon circle"/>
          <p:cNvSpPr/>
          <p:nvPr/>
        </p:nvSpPr>
        <p:spPr>
          <a:xfrm>
            <a:off x="253746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tep 2 icon" descr="Step 2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531620"/>
            <a:ext cx="320040" cy="320040"/>
          </a:xfrm>
          <a:prstGeom prst="rect">
            <a:avLst/>
          </a:prstGeom>
        </p:spPr>
      </p:pic>
      <p:sp>
        <p:nvSpPr>
          <p:cNvPr id="11" name="Step card 2"/>
          <p:cNvSpPr/>
          <p:nvPr/>
        </p:nvSpPr>
        <p:spPr>
          <a:xfrm>
            <a:off x="2125980" y="2240280"/>
            <a:ext cx="1554480" cy="17373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2235708" y="237744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2. Load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2235708" y="278892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Import both CSVs with LOAD DATA INFILE</a:t>
            </a:r>
            <a:endParaRPr lang="en-US" sz="1200" dirty="0"/>
          </a:p>
        </p:txBody>
      </p:sp>
      <p:sp>
        <p:nvSpPr>
          <p:cNvPr id="14" name="Step 3 icon circle"/>
          <p:cNvSpPr/>
          <p:nvPr/>
        </p:nvSpPr>
        <p:spPr>
          <a:xfrm>
            <a:off x="420624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Step 3 icon" descr="Step 3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260" y="1531620"/>
            <a:ext cx="320040" cy="320040"/>
          </a:xfrm>
          <a:prstGeom prst="rect">
            <a:avLst/>
          </a:prstGeom>
        </p:spPr>
      </p:pic>
      <p:sp>
        <p:nvSpPr>
          <p:cNvPr id="16" name="Step card 3"/>
          <p:cNvSpPr/>
          <p:nvPr/>
        </p:nvSpPr>
        <p:spPr>
          <a:xfrm>
            <a:off x="3794760" y="2240280"/>
            <a:ext cx="1554480" cy="17373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3904488" y="237744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3. Clean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3904488" y="278892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Trim blanks, strip brackets, remove stray characters</a:t>
            </a:r>
            <a:endParaRPr lang="en-US" sz="1200" dirty="0"/>
          </a:p>
        </p:txBody>
      </p:sp>
      <p:sp>
        <p:nvSpPr>
          <p:cNvPr id="19" name="Step 4 icon circle"/>
          <p:cNvSpPr/>
          <p:nvPr/>
        </p:nvSpPr>
        <p:spPr>
          <a:xfrm>
            <a:off x="587502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Step 4 icon" descr="Step 4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531620"/>
            <a:ext cx="320040" cy="320040"/>
          </a:xfrm>
          <a:prstGeom prst="rect">
            <a:avLst/>
          </a:prstGeom>
        </p:spPr>
      </p:pic>
      <p:sp>
        <p:nvSpPr>
          <p:cNvPr id="21" name="Step card 4"/>
          <p:cNvSpPr/>
          <p:nvPr/>
        </p:nvSpPr>
        <p:spPr>
          <a:xfrm>
            <a:off x="5463540" y="2240280"/>
            <a:ext cx="1554480" cy="17373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573268" y="237744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4. Convert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573268" y="278892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ALTER TABLE turns text columns into INT and DECIMAL</a:t>
            </a:r>
            <a:endParaRPr lang="en-US" sz="1200" dirty="0"/>
          </a:p>
        </p:txBody>
      </p:sp>
      <p:sp>
        <p:nvSpPr>
          <p:cNvPr id="24" name="Step 5 icon circle"/>
          <p:cNvSpPr/>
          <p:nvPr/>
        </p:nvSpPr>
        <p:spPr>
          <a:xfrm>
            <a:off x="7543800" y="13716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Step 5 icon" descr="Step 5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3820" y="1531620"/>
            <a:ext cx="320040" cy="320040"/>
          </a:xfrm>
          <a:prstGeom prst="rect">
            <a:avLst/>
          </a:prstGeom>
        </p:spPr>
      </p:pic>
      <p:sp>
        <p:nvSpPr>
          <p:cNvPr id="26" name="Step card 5"/>
          <p:cNvSpPr/>
          <p:nvPr/>
        </p:nvSpPr>
        <p:spPr>
          <a:xfrm>
            <a:off x="7132320" y="2240280"/>
            <a:ext cx="1554480" cy="173736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7242048" y="2377440"/>
            <a:ext cx="1335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5. Analyse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7242048" y="2788920"/>
            <a:ext cx="13350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Run 22 queries on ratings, trends and people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Loading the CSV files</a:t>
            </a:r>
            <a:endParaRPr lang="en-US" sz="3000" dirty="0"/>
          </a:p>
        </p:txBody>
      </p:sp>
      <p:sp>
        <p:nvSpPr>
          <p:cNvPr id="3" name="Load code"/>
          <p:cNvSpPr txBox="1"/>
          <p:nvPr/>
        </p:nvSpPr>
        <p:spPr>
          <a:xfrm>
            <a:off x="457200" y="1143000"/>
            <a:ext cx="4572000" cy="2377440"/>
          </a:xfrm>
          <a:prstGeom prst="roundRect">
            <a:avLst>
              <a:gd name="adj" fmla="val 3077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INFILE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'.../titles.csv'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TERMINATED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','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ENCLOSED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'"'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TERMINATED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'\r\n'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IGNORE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(id, title, ..., @release_year, ...)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release_year =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NULLIF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(@release_year, ''),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runtime =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NULLIF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(@runtime, ''),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...;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703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credits.csv loads the same way into the credits table.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303520" y="118872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ENCLOSED BY '"'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keeps commas inside descriptions from splitting columns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IGNORE 1 ROWS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skips the CSV header line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@variable + NULLIF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turns empty strings into real NULLs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VARCHAR first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all columns load as text, then get converted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Cleaning the data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7548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 in the raw data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the SQL fixes it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Empty strings instead of NULL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 col = NULLIF(TRIM(col), '')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Numbers stored as text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ALTER TABLE ... MODIFY col INT / DECIMAL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Stray \r and quote characters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TRIM(BOTH '\r' FROM col)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Genres like ['drama', 'crime']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Nested REPLACE() removes [ ] and quotes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 imdb_votes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Filled with the column average (subquery)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The votes update wraps its subquery in a derived table to avoid MySQL error 1093. sql_safe_updates is switched off so the cleaning UPDATEs can run.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SQL toolkit used</a:t>
            </a:r>
            <a:endParaRPr lang="en-US" sz="3000" dirty="0"/>
          </a:p>
        </p:txBody>
      </p:sp>
      <p:sp>
        <p:nvSpPr>
          <p:cNvPr id="3" name="Toolkit card 1"/>
          <p:cNvSpPr/>
          <p:nvPr/>
        </p:nvSpPr>
        <p:spPr>
          <a:xfrm>
            <a:off x="457200" y="118872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iltering icon circle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Filtering icon" descr="Filterin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859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Filtering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585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WHERE, AND, OR</a:t>
            </a:r>
            <a:endParaRPr lang="en-US" sz="1200" dirty="0"/>
          </a:p>
        </p:txBody>
      </p:sp>
      <p:sp>
        <p:nvSpPr>
          <p:cNvPr id="8" name="Toolkit card 2"/>
          <p:cNvSpPr/>
          <p:nvPr/>
        </p:nvSpPr>
        <p:spPr>
          <a:xfrm>
            <a:off x="2560320" y="118872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ggregation icon circle"/>
          <p:cNvSpPr/>
          <p:nvPr/>
        </p:nvSpPr>
        <p:spPr>
          <a:xfrm>
            <a:off x="274320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Aggregation icon" descr="Aggregation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4320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Aggregation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2743200" y="22585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COUNT, AVG, SUM, ROUND</a:t>
            </a:r>
            <a:endParaRPr lang="en-US" sz="1200" dirty="0"/>
          </a:p>
        </p:txBody>
      </p:sp>
      <p:sp>
        <p:nvSpPr>
          <p:cNvPr id="13" name="Toolkit card 3"/>
          <p:cNvSpPr/>
          <p:nvPr/>
        </p:nvSpPr>
        <p:spPr>
          <a:xfrm>
            <a:off x="4663440" y="118872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Grouping icon circle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Grouping icon" descr="Grouping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620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4632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Grouping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22585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GROUP BY, HAVING</a:t>
            </a:r>
            <a:endParaRPr lang="en-US" sz="1200" dirty="0"/>
          </a:p>
        </p:txBody>
      </p:sp>
      <p:sp>
        <p:nvSpPr>
          <p:cNvPr id="18" name="Toolkit card 4"/>
          <p:cNvSpPr/>
          <p:nvPr/>
        </p:nvSpPr>
        <p:spPr>
          <a:xfrm>
            <a:off x="6766560" y="118872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orting icon circle"/>
          <p:cNvSpPr/>
          <p:nvPr/>
        </p:nvSpPr>
        <p:spPr>
          <a:xfrm>
            <a:off x="6949440" y="13716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Sorting icon" descr="Sorting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3740" y="148590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49440" y="19659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Sorting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6949440" y="225856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ORDER BY, LIMIT</a:t>
            </a:r>
            <a:endParaRPr lang="en-US" sz="1200" dirty="0"/>
          </a:p>
        </p:txBody>
      </p:sp>
      <p:sp>
        <p:nvSpPr>
          <p:cNvPr id="23" name="Toolkit card 5"/>
          <p:cNvSpPr/>
          <p:nvPr/>
        </p:nvSpPr>
        <p:spPr>
          <a:xfrm>
            <a:off x="457200" y="288036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Joins icon circle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Joins icon" descr="Join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1775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40080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Joins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640080" y="39502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JOIN ... ON</a:t>
            </a:r>
            <a:endParaRPr lang="en-US" sz="1200" dirty="0"/>
          </a:p>
        </p:txBody>
      </p:sp>
      <p:sp>
        <p:nvSpPr>
          <p:cNvPr id="28" name="Toolkit card 6"/>
          <p:cNvSpPr/>
          <p:nvPr/>
        </p:nvSpPr>
        <p:spPr>
          <a:xfrm>
            <a:off x="2560320" y="288036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et operations icon circle"/>
          <p:cNvSpPr/>
          <p:nvPr/>
        </p:nvSpPr>
        <p:spPr>
          <a:xfrm>
            <a:off x="2743200" y="3063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Set operations icon" descr="Set operation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7500" y="31775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2743200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Set operations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2743200" y="39502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UNION ALL</a:t>
            </a:r>
            <a:endParaRPr lang="en-US" sz="1200" dirty="0"/>
          </a:p>
        </p:txBody>
      </p:sp>
      <p:sp>
        <p:nvSpPr>
          <p:cNvPr id="33" name="Toolkit card 7"/>
          <p:cNvSpPr/>
          <p:nvPr/>
        </p:nvSpPr>
        <p:spPr>
          <a:xfrm>
            <a:off x="4663440" y="288036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Functions icon circle"/>
          <p:cNvSpPr/>
          <p:nvPr/>
        </p:nvSpPr>
        <p:spPr>
          <a:xfrm>
            <a:off x="4846320" y="3063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Functions icon" descr="Functions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0620" y="3177540"/>
            <a:ext cx="228600" cy="2286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4846320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Functions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4846320" y="39502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FLOOR, CONCAT, TRIM, REPLACE</a:t>
            </a:r>
            <a:endParaRPr lang="en-US" sz="1200" dirty="0"/>
          </a:p>
        </p:txBody>
      </p:sp>
      <p:sp>
        <p:nvSpPr>
          <p:cNvPr id="38" name="Toolkit card 8"/>
          <p:cNvSpPr/>
          <p:nvPr/>
        </p:nvSpPr>
        <p:spPr>
          <a:xfrm>
            <a:off x="6766560" y="2880360"/>
            <a:ext cx="192024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Subqueries icon circle"/>
          <p:cNvSpPr/>
          <p:nvPr/>
        </p:nvSpPr>
        <p:spPr>
          <a:xfrm>
            <a:off x="6949440" y="30632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0" name="Subqueries icon" descr="Subqueries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63740" y="3177540"/>
            <a:ext cx="228600" cy="22860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6949440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Subqueries</a:t>
            </a:r>
            <a:endParaRPr lang="en-US" sz="1400" dirty="0"/>
          </a:p>
        </p:txBody>
      </p:sp>
      <p:sp>
        <p:nvSpPr>
          <p:cNvPr id="42" name="Text 32"/>
          <p:cNvSpPr txBox="1"/>
          <p:nvPr/>
        </p:nvSpPr>
        <p:spPr>
          <a:xfrm>
            <a:off x="6949440" y="395020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SELECT inside UPDATE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Top &amp; bottom rated titles</a:t>
            </a:r>
            <a:endParaRPr lang="en-US" sz="3000" dirty="0"/>
          </a:p>
        </p:txBody>
      </p:sp>
      <p:sp>
        <p:nvSpPr>
          <p:cNvPr id="3" name="Top movies code"/>
          <p:cNvSpPr txBox="1"/>
          <p:nvPr/>
        </p:nvSpPr>
        <p:spPr>
          <a:xfrm>
            <a:off x="457200" y="114300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title, type, imdb_score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imdb_score &gt;= 8.0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 = 'MOVIE'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imdb_score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10;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88920"/>
            <a:ext cx="4023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WHERE keeps highly rated movies only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ORDER BY ... DESC ranks the best first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LIMIT 10 returns the top ten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Bottom 10: drop the filter and sort ASC</a:t>
            </a:r>
            <a:endParaRPr lang="en-US" sz="1400" dirty="0"/>
          </a:p>
        </p:txBody>
      </p:sp>
      <p:sp>
        <p:nvSpPr>
          <p:cNvPr id="5" name="Rating card 1"/>
          <p:cNvSpPr/>
          <p:nvPr/>
        </p:nvSpPr>
        <p:spPr>
          <a:xfrm>
            <a:off x="4754880" y="114300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2040" y="1252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Top show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892040" y="15270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9.6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103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#ABtalks</a:t>
            </a:r>
            <a:endParaRPr lang="en-US" sz="1200" dirty="0"/>
          </a:p>
        </p:txBody>
      </p:sp>
      <p:sp>
        <p:nvSpPr>
          <p:cNvPr id="9" name="Rating card 2"/>
          <p:cNvSpPr/>
          <p:nvPr/>
        </p:nvSpPr>
        <p:spPr>
          <a:xfrm>
            <a:off x="6766560" y="114300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03720" y="1252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Top movie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903720" y="15270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9.1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10312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Major (tied with Chhota Bheem &amp; Krishna vs Zimbara)</a:t>
            </a:r>
            <a:endParaRPr lang="en-US" sz="1200" dirty="0"/>
          </a:p>
        </p:txBody>
      </p:sp>
      <p:sp>
        <p:nvSpPr>
          <p:cNvPr id="13" name="Rating card 3"/>
          <p:cNvSpPr/>
          <p:nvPr/>
        </p:nvSpPr>
        <p:spPr>
          <a:xfrm>
            <a:off x="4754880" y="292608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3035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Lowest movie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3101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1.5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4892040" y="38862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Aerials</a:t>
            </a:r>
            <a:endParaRPr lang="en-US" sz="1200" dirty="0"/>
          </a:p>
        </p:txBody>
      </p:sp>
      <p:sp>
        <p:nvSpPr>
          <p:cNvPr id="17" name="Rating card 4"/>
          <p:cNvSpPr/>
          <p:nvPr/>
        </p:nvSpPr>
        <p:spPr>
          <a:xfrm>
            <a:off x="6766560" y="292608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03720" y="30358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Lowest show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33101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2.0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38862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Thomas &amp; Friends: All Engines Go!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Movies vs shows</a:t>
            </a:r>
            <a:endParaRPr lang="en-US" sz="3000" dirty="0"/>
          </a:p>
        </p:txBody>
      </p:sp>
      <p:sp>
        <p:nvSpPr>
          <p:cNvPr id="3" name="Averages code"/>
          <p:cNvSpPr txBox="1"/>
          <p:nvPr/>
        </p:nvSpPr>
        <p:spPr>
          <a:xfrm>
            <a:off x="457200" y="1143000"/>
            <a:ext cx="402336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(imdb_score), 2)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avg_imdb,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(tmdb_score), 2)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avg_tmdb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type;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9748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GROUP BY type gives one row per Movie and Show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AVG works inside each group, ROUND trims decimals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UNION ALL stacks two runtime averages: about 98 min per movie, 39 min per show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143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Average score by type</a:t>
            </a:r>
            <a:endParaRPr lang="en-US" sz="14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846320" y="1463040"/>
          <a:ext cx="3840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Content over time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Titles per decade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9377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Decade code"/>
          <p:cNvSpPr txBox="1"/>
          <p:nvPr/>
        </p:nvSpPr>
        <p:spPr>
          <a:xfrm>
            <a:off x="5669280" y="1143000"/>
            <a:ext cx="3017520" cy="1828800"/>
          </a:xfrm>
          <a:prstGeom prst="roundRect">
            <a:avLst>
              <a:gd name="adj" fmla="val 400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FLOOR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(release_year/10)*10,'s')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decade,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release_year &gt;= 1940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decade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0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decade;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669280" y="315468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FLOOR(year/10)*10 rounds 2017 down to 2010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2010s hold 3,304 titles; the data ends in 2022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Certifications &amp; genres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Top 5 movie age certifications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02336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Genre card"/>
          <p:cNvSpPr/>
          <p:nvPr/>
        </p:nvSpPr>
        <p:spPr>
          <a:xfrm>
            <a:off x="4754880" y="1143000"/>
            <a:ext cx="3931920" cy="1508760"/>
          </a:xfrm>
          <a:prstGeom prst="roundRect">
            <a:avLst>
              <a:gd name="adj" fmla="val 484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937760" y="128016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Top movie genres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comedy 384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documentation 230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drama 224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12280" y="12801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Top show genres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reality 113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drama 104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comedy 100</a:t>
            </a:r>
            <a:endParaRPr lang="en-US" sz="1400" dirty="0"/>
          </a:p>
        </p:txBody>
      </p:sp>
      <p:sp>
        <p:nvSpPr>
          <p:cNvPr id="8" name="Certification code"/>
          <p:cNvSpPr txBox="1"/>
          <p:nvPr/>
        </p:nvSpPr>
        <p:spPr>
          <a:xfrm>
            <a:off x="4754880" y="3017520"/>
            <a:ext cx="3931920" cy="1508760"/>
          </a:xfrm>
          <a:prstGeom prst="roundRect">
            <a:avLst>
              <a:gd name="adj" fmla="val 4848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age_certification,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type = 'Movie'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age_certification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5;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People behind the titles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Most credited actors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Most credited directors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39319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754880" y="1371600"/>
          <a:ext cx="39319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People code"/>
          <p:cNvSpPr txBox="1"/>
          <p:nvPr/>
        </p:nvSpPr>
        <p:spPr>
          <a:xfrm>
            <a:off x="457200" y="384048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name,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(*)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appearances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credits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role = 'actor'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appearances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same query with role = 'director' for the directors chart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Joining titles and credits</a:t>
            </a:r>
            <a:endParaRPr lang="en-US" sz="3000" dirty="0"/>
          </a:p>
        </p:txBody>
      </p:sp>
      <p:sp>
        <p:nvSpPr>
          <p:cNvPr id="3" name="Join code"/>
          <p:cNvSpPr txBox="1"/>
          <p:nvPr/>
        </p:nvSpPr>
        <p:spPr>
          <a:xfrm>
            <a:off x="457200" y="1143000"/>
            <a:ext cx="4572000" cy="2240280"/>
          </a:xfrm>
          <a:prstGeom prst="roundRect">
            <a:avLst>
              <a:gd name="adj" fmla="val 3265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127000" tIns="127000" rIns="127000" bIns="12700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t.title,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c.name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director,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t.release_year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title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credits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t.id = c.id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t.type = 'Movie'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t.release_year &gt;= 2010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c.role = 'director'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t.release_year </a:t>
            </a:r>
            <a:pPr indent="0" marL="0">
              <a:buNone/>
            </a:pPr>
            <a:r>
              <a:rPr lang="en-US" sz="1100" b="1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</a:t>
            </a:r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</p:txBody>
      </p:sp>
      <p:sp>
        <p:nvSpPr>
          <p:cNvPr id="4" name="Title table box"/>
          <p:cNvSpPr/>
          <p:nvPr/>
        </p:nvSpPr>
        <p:spPr>
          <a:xfrm>
            <a:off x="457200" y="3794760"/>
            <a:ext cx="16459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37947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title</a:t>
            </a:r>
            <a:endParaRPr lang="en-US" sz="1600" dirty="0"/>
          </a:p>
        </p:txBody>
      </p:sp>
      <p:sp>
        <p:nvSpPr>
          <p:cNvPr id="6" name="Credits table box"/>
          <p:cNvSpPr/>
          <p:nvPr/>
        </p:nvSpPr>
        <p:spPr>
          <a:xfrm>
            <a:off x="3383280" y="3794760"/>
            <a:ext cx="1645920" cy="59436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37947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credits</a:t>
            </a:r>
            <a:endParaRPr lang="en-US" sz="1600" dirty="0"/>
          </a:p>
        </p:txBody>
      </p:sp>
      <p:sp>
        <p:nvSpPr>
          <p:cNvPr id="8" name="Join line"/>
          <p:cNvSpPr/>
          <p:nvPr/>
        </p:nvSpPr>
        <p:spPr>
          <a:xfrm>
            <a:off x="2103120" y="4091940"/>
            <a:ext cx="128016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</a:ln>
        </p:spPr>
      </p:sp>
      <p:sp>
        <p:nvSpPr>
          <p:cNvPr id="9" name="Join key pill"/>
          <p:cNvSpPr/>
          <p:nvPr/>
        </p:nvSpPr>
        <p:spPr>
          <a:xfrm>
            <a:off x="2423160" y="3931920"/>
            <a:ext cx="640080" cy="320040"/>
          </a:xfrm>
          <a:prstGeom prst="roundRect">
            <a:avLst>
              <a:gd name="adj" fmla="val 4857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23160" y="39319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id</a:t>
            </a:r>
            <a:endParaRPr lang="en-US" sz="1200" dirty="0"/>
          </a:p>
        </p:txBody>
      </p:sp>
      <p:sp>
        <p:nvSpPr>
          <p:cNvPr id="11" name="Directors since 2010 icon circle"/>
          <p:cNvSpPr/>
          <p:nvPr/>
        </p:nvSpPr>
        <p:spPr>
          <a:xfrm>
            <a:off x="5349240" y="1234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Directors since 2010 icon" descr="Directors since 2010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3540" y="1348740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989320" y="1143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Directors since 2010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143560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Matches movies to their directors</a:t>
            </a:r>
            <a:endParaRPr lang="en-US" sz="1200" dirty="0"/>
          </a:p>
        </p:txBody>
      </p:sp>
      <p:sp>
        <p:nvSpPr>
          <p:cNvPr id="15" name="Popular hits icon circle"/>
          <p:cNvSpPr/>
          <p:nvPr/>
        </p:nvSpPr>
        <p:spPr>
          <a:xfrm>
            <a:off x="5349240" y="2103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Popular hits icon" descr="Popular hit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3540" y="2217420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989320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Popular hits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989320" y="230428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IMDb score above 7.5 and popularity above 80</a:t>
            </a:r>
            <a:endParaRPr lang="en-US" sz="1200" dirty="0"/>
          </a:p>
        </p:txBody>
      </p:sp>
      <p:sp>
        <p:nvSpPr>
          <p:cNvPr id="19" name="Star actors icon circle"/>
          <p:cNvSpPr/>
          <p:nvPr/>
        </p:nvSpPr>
        <p:spPr>
          <a:xfrm>
            <a:off x="5349240" y="297180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Star actors icon" descr="Star actor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540" y="3086100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989320" y="2880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Star actors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5989320" y="31729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Actors in titles scoring above 8.0 on IMDb and TMDB</a:t>
            </a:r>
            <a:endParaRPr lang="en-US" sz="1200" dirty="0"/>
          </a:p>
        </p:txBody>
      </p:sp>
      <p:sp>
        <p:nvSpPr>
          <p:cNvPr id="23" name="Repeat characters icon circle"/>
          <p:cNvSpPr/>
          <p:nvPr/>
        </p:nvSpPr>
        <p:spPr>
          <a:xfrm>
            <a:off x="5349240" y="38404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Repeat characters icon" descr="Repeat character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3540" y="3954780"/>
            <a:ext cx="228600" cy="2286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989320" y="37490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Repeat characters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989320" y="404164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HAVING COUNT(DISTINCT title) &gt;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Key insights</a:t>
            </a:r>
            <a:endParaRPr lang="en-US" sz="3000" dirty="0"/>
          </a:p>
        </p:txBody>
      </p:sp>
      <p:sp>
        <p:nvSpPr>
          <p:cNvPr id="3" name="Insight card 1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6.98 vs 6.25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031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Shows average a higher IMDb score than movies</a:t>
            </a:r>
            <a:endParaRPr lang="en-US" sz="1400" dirty="0"/>
          </a:p>
        </p:txBody>
      </p:sp>
      <p:sp>
        <p:nvSpPr>
          <p:cNvPr id="6" name="Insight card 2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37160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3,304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1031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titles come from the 2010s, so the catalogue is mostly recent</a:t>
            </a:r>
            <a:endParaRPr lang="en-US" sz="1400" dirty="0"/>
          </a:p>
        </p:txBody>
      </p:sp>
      <p:sp>
        <p:nvSpPr>
          <p:cNvPr id="9" name="Insight card 3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154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R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886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is the most common movie certification, with 556 titles</a:t>
            </a:r>
            <a:endParaRPr lang="en-US" sz="1400" dirty="0"/>
          </a:p>
        </p:txBody>
      </p:sp>
      <p:sp>
        <p:nvSpPr>
          <p:cNvPr id="12" name="Insight card 4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1546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384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8862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comedies lead movie genres; reality leads shows with 113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Limitations &amp; next steps</a:t>
            </a:r>
            <a:endParaRPr lang="en-US" sz="3000" dirty="0"/>
          </a:p>
        </p:txBody>
      </p:sp>
      <p:sp>
        <p:nvSpPr>
          <p:cNvPr id="3" name="Limitation 1 icon circle"/>
          <p:cNvSpPr/>
          <p:nvPr/>
        </p:nvSpPr>
        <p:spPr>
          <a:xfrm>
            <a:off x="457200" y="1252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Limitation 1 icon" descr="Limitation 1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367028"/>
            <a:ext cx="228600" cy="228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143000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Match table names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435608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script builds netflix_project.title, but queries read shows_movies.titles. Use one schema name throughout.</a:t>
            </a:r>
            <a:endParaRPr lang="en-US" sz="1300" dirty="0"/>
          </a:p>
        </p:txBody>
      </p:sp>
      <p:sp>
        <p:nvSpPr>
          <p:cNvPr id="7" name="Limitation 2 icon circle"/>
          <p:cNvSpPr/>
          <p:nvPr/>
        </p:nvSpPr>
        <p:spPr>
          <a:xfrm>
            <a:off x="457200" y="213969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Limitation 2 icon" descr="Limitation 2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253996"/>
            <a:ext cx="228600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029968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Match column names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322576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credits is created with characters, while the CSV and the queries use character.</a:t>
            </a:r>
            <a:endParaRPr lang="en-US" sz="1300" dirty="0"/>
          </a:p>
        </p:txBody>
      </p:sp>
      <p:sp>
        <p:nvSpPr>
          <p:cNvPr id="11" name="Limitation 3 icon circle"/>
          <p:cNvSpPr/>
          <p:nvPr/>
        </p:nvSpPr>
        <p:spPr>
          <a:xfrm>
            <a:off x="457200" y="30266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Limitation 3 icon" descr="Limitation 3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40964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916936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 roles that exist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3209544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The data has only ACTOR and DIRECTOR, so 'actress' and 'leading role' match nothing. Bracket OR conditions.</a:t>
            </a:r>
            <a:endParaRPr lang="en-US" sz="1300" dirty="0"/>
          </a:p>
        </p:txBody>
      </p:sp>
      <p:sp>
        <p:nvSpPr>
          <p:cNvPr id="15" name="Limitation 4 icon circle"/>
          <p:cNvSpPr/>
          <p:nvPr/>
        </p:nvSpPr>
        <p:spPr>
          <a:xfrm>
            <a:off x="457200" y="391363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Limitation 4 icon" descr="Limitation 4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027932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3803904"/>
            <a:ext cx="7543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Split multi-value fields</a:t>
            </a:r>
            <a:endParaRPr lang="en-US" sz="140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4096512"/>
            <a:ext cx="7543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Genres and countries hold lists such as [drama, crime]. One row per value would count each genre separately.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09728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From raw CSVs to insights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146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Loaded and cleaned two raw CSVs in MySQL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Answered 22 questions with filters, grouping, joins and UNION ALL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Mapped Netflix's catalogue by rating, year, genre and people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6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5" name="Closing circle"/>
          <p:cNvSpPr/>
          <p:nvPr/>
        </p:nvSpPr>
        <p:spPr>
          <a:xfrm>
            <a:off x="5943600" y="1005840"/>
            <a:ext cx="2743200" cy="2743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losing icon" descr="Lightbulb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8288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Netflix Analysis">
  <a:themeElements>
    <a:clrScheme name="Netflix Analysis">
      <a:dk1>
        <a:srgbClr val="141414"/>
      </a:dk1>
      <a:lt1>
        <a:srgbClr val="FFFFFF"/>
      </a:lt1>
      <a:dk2>
        <a:srgbClr val="4A4A4A"/>
      </a:dk2>
      <a:lt2>
        <a:srgbClr val="F3F3F3"/>
      </a:lt2>
      <a:accent1>
        <a:srgbClr val="E50914"/>
      </a:accent1>
      <a:accent2>
        <a:srgbClr val="B20710"/>
      </a:accent2>
      <a:accent3>
        <a:srgbClr val="564D4D"/>
      </a:accent3>
      <a:accent4>
        <a:srgbClr val="831010"/>
      </a:accent4>
      <a:accent5>
        <a:srgbClr val="8C8C8C"/>
      </a:accent5>
      <a:accent6>
        <a:srgbClr val="FF7B7B"/>
      </a:accent6>
      <a:hlink>
        <a:srgbClr val="E50914"/>
      </a:hlink>
      <a:folHlink>
        <a:srgbClr val="B20710"/>
      </a:folHlink>
    </a:clrScheme>
    <a:fontScheme name="Netflix Analysi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Netflix Content Analysis - MySQL Project</dc:title>
  <dc:subject>PptxGenJS Presentation</dc:subject>
  <dc:creator>PptxGenJS</dc:creator>
  <cp:lastModifiedBy>PptxGenJS</cp:lastModifiedBy>
  <cp:revision>1</cp:revision>
  <dcterms:created xsi:type="dcterms:W3CDTF">2026-10-23T07:25:16Z</dcterms:created>
  <dcterms:modified xsi:type="dcterms:W3CDTF">2026-10-23T07:25:16Z</dcterms:modified>
</cp:coreProperties>
</file>